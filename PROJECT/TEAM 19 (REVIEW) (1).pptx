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8/31/2026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b="1" dirty="0"/>
              <a:t> Alumni Connect</a:t>
            </a:r>
            <a:endParaRPr lang="en-US" sz="4000" b="1" dirty="0">
              <a:solidFill>
                <a:srgbClr val="C00000"/>
              </a:solidFill>
              <a:latin typeface="+mn-lt"/>
            </a:endParaRPr>
          </a:p>
        </p:txBody>
      </p:sp>
      <p:sp>
        <p:nvSpPr>
          <p:cNvPr id="3" name="Subtitle 2"/>
          <p:cNvSpPr>
            <a:spLocks noGrp="1"/>
          </p:cNvSpPr>
          <p:nvPr>
            <p:ph type="subTitle" idx="1"/>
          </p:nvPr>
        </p:nvSpPr>
        <p:spPr>
          <a:xfrm>
            <a:off x="4270160" y="3513524"/>
            <a:ext cx="4551284" cy="1396014"/>
          </a:xfrm>
        </p:spPr>
        <p:txBody>
          <a:bodyPr/>
          <a:lstStyle/>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SAI SHASHANK – 2520030433</a:t>
            </a:r>
          </a:p>
          <a:p>
            <a:pPr marL="171450" algn="ctr">
              <a:lnSpc>
                <a:spcPct val="107000"/>
              </a:lnSpc>
              <a:spcAft>
                <a:spcPts val="800"/>
              </a:spcAft>
            </a:pP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ARUN TEJ – 2520030472</a:t>
            </a: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YUVAN SHIVAMANI </a:t>
            </a: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- 2520030310</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p>
          <a:p>
            <a:r>
              <a:rPr lang="en-US" dirty="0"/>
              <a:t>Dr. V. Sireesha</a:t>
            </a:r>
            <a:endParaRPr lang="en-IN" dirty="0"/>
          </a:p>
          <a:p>
            <a:r>
              <a:rPr lang="en-US" dirty="0"/>
              <a:t>Professor, Department of CSE</a:t>
            </a:r>
            <a:endParaRPr lang="en-IN" dirty="0"/>
          </a:p>
          <a:p>
            <a:endParaRPr lang="en-IN" dirty="0"/>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8D662079-BAE8-0176-4E11-AF2ABA852F96}"/>
              </a:ext>
            </a:extLst>
          </p:cNvPr>
          <p:cNvSpPr txBox="1"/>
          <p:nvPr/>
        </p:nvSpPr>
        <p:spPr>
          <a:xfrm>
            <a:off x="0" y="806447"/>
            <a:ext cx="12388645" cy="5909310"/>
          </a:xfrm>
          <a:prstGeom prst="rect">
            <a:avLst/>
          </a:prstGeom>
          <a:noFill/>
        </p:spPr>
        <p:txBody>
          <a:bodyPr wrap="square" rtlCol="0">
            <a:spAutoFit/>
          </a:bodyPr>
          <a:lstStyle/>
          <a:p>
            <a:r>
              <a:rPr lang="en-US" b="1" dirty="0"/>
              <a:t>Alumni Connect</a:t>
            </a:r>
            <a:r>
              <a:rPr lang="en-US" dirty="0"/>
              <a:t> is a centralized web-based platform designed to strengthen and modernize communication, collaboration, and professional networking among students, alumni, and educational institutions. In many colleges and universities, alumni information is maintained through scattered databases, spreadsheets, social media groups, or outdated records. These traditional approaches make it difficult to maintain accurate alumni information and prevent students from easily identifying suitable alumni for mentorship, career guidance, placement assistance, internships, and professional networking. Alumni Connect addresses these challenges by providing a single, organized, and user-friendly platform for managing and utilizing alumni relationships effectively.</a:t>
            </a:r>
            <a:endParaRPr lang="en-IN" dirty="0"/>
          </a:p>
          <a:p>
            <a:r>
              <a:rPr lang="en-US" dirty="0"/>
              <a:t>The proposed system allows students and alumni to create authenticated profiles containing important information such as educational qualifications, technical and professional skills, areas of interest, work experience, career preferences, achievements, and contact information. Students can search and discover alumni based on specific skills, interests, academic background, industry, or professional expertise. This skill- and interest-based discovery mechanism helps students connect with relevant alumni who can provide personalized career advice, mentorship, industry insights, interview preparation, and placement guidance.</a:t>
            </a:r>
            <a:endParaRPr lang="en-IN" dirty="0"/>
          </a:p>
          <a:p>
            <a:r>
              <a:rPr lang="en-US" dirty="0"/>
              <a:t>The platform also provides a structured </a:t>
            </a:r>
            <a:r>
              <a:rPr lang="en-US" b="1" dirty="0"/>
              <a:t>mentorship system</a:t>
            </a:r>
            <a:r>
              <a:rPr lang="en-US" dirty="0"/>
              <a:t>, through which students can send mentorship requests to suitable alumni and alumni can accept and guide students according to their expertise and availability. Alumni can contribute by sharing their professional experiences, career paths, learning resources, job opportunities, internship opportunities, and industry knowledge. This creates a collaborative environment where knowledge and experience can be transferred from alumni to the current generation of students.</a:t>
            </a:r>
            <a:endParaRPr lang="en-IN" dirty="0"/>
          </a:p>
          <a:p>
            <a:r>
              <a:rPr lang="en-US" dirty="0"/>
              <a:t>Educational institutions can act as administrators of the platform by maintaining updated alumni records, verifying user accounts, managing profiles, organizing alumni activities, and publishing important announcements. Institutions can also share placement opportunities, internships, workshops, reunions, seminars, networking events, and other career-related programs through a centralized notification system. This reduces dependence on fragmented communication channels and improves engagement between the institution and its alumni community</a:t>
            </a:r>
            <a:endParaRPr lang="en-IN"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972942AF-5E71-173B-2C9D-049328AD0539}"/>
              </a:ext>
            </a:extLst>
          </p:cNvPr>
          <p:cNvSpPr txBox="1"/>
          <p:nvPr/>
        </p:nvSpPr>
        <p:spPr>
          <a:xfrm>
            <a:off x="0" y="905069"/>
            <a:ext cx="11971176" cy="3693319"/>
          </a:xfrm>
          <a:prstGeom prst="rect">
            <a:avLst/>
          </a:prstGeom>
          <a:noFill/>
        </p:spPr>
        <p:txBody>
          <a:bodyPr wrap="square" rtlCol="0">
            <a:spAutoFit/>
          </a:bodyPr>
          <a:lstStyle/>
          <a:p>
            <a:r>
              <a:rPr lang="en-IN" b="1" dirty="0"/>
              <a:t>ALUMNI CONNECT</a:t>
            </a:r>
            <a:br>
              <a:rPr lang="en-IN" dirty="0"/>
            </a:br>
            <a:r>
              <a:rPr lang="en-IN" i="1" dirty="0"/>
              <a:t>Bridging Students, Alumni &amp; Institutions</a:t>
            </a:r>
          </a:p>
          <a:p>
            <a:endParaRPr lang="en-IN" dirty="0"/>
          </a:p>
          <a:p>
            <a:pPr lvl="0"/>
            <a:r>
              <a:rPr lang="en-IN" dirty="0"/>
              <a:t>A centralized platform for </a:t>
            </a:r>
            <a:r>
              <a:rPr lang="en-IN" b="1" dirty="0"/>
              <a:t>student–alumni interaction and professional networking</a:t>
            </a:r>
            <a:r>
              <a:rPr lang="en-IN" dirty="0"/>
              <a:t>. </a:t>
            </a:r>
          </a:p>
          <a:p>
            <a:pPr lvl="0"/>
            <a:r>
              <a:rPr lang="en-IN" dirty="0"/>
              <a:t>Provides a single system to </a:t>
            </a:r>
            <a:r>
              <a:rPr lang="en-IN" b="1" dirty="0"/>
              <a:t>manage and maintain alumni information</a:t>
            </a:r>
            <a:r>
              <a:rPr lang="en-IN" dirty="0"/>
              <a:t>. </a:t>
            </a:r>
          </a:p>
          <a:p>
            <a:pPr lvl="0"/>
            <a:endParaRPr lang="en-IN" dirty="0"/>
          </a:p>
          <a:p>
            <a:pPr lvl="0"/>
            <a:r>
              <a:rPr lang="en-IN" dirty="0"/>
              <a:t>* Helps students discover suitable alumni based on </a:t>
            </a:r>
            <a:r>
              <a:rPr lang="en-IN" b="1" dirty="0"/>
              <a:t>skills, interests, education, and professional expertise</a:t>
            </a:r>
            <a:r>
              <a:rPr lang="en-IN" dirty="0"/>
              <a:t>. </a:t>
            </a:r>
          </a:p>
          <a:p>
            <a:pPr lvl="0"/>
            <a:endParaRPr lang="en-IN" dirty="0"/>
          </a:p>
          <a:p>
            <a:pPr lvl="0"/>
            <a:r>
              <a:rPr lang="en-IN" dirty="0"/>
              <a:t>* Enables </a:t>
            </a:r>
            <a:r>
              <a:rPr lang="en-IN" b="1" dirty="0"/>
              <a:t>mentorship, career guidance, placement assistance, internships, and networking</a:t>
            </a:r>
            <a:r>
              <a:rPr lang="en-IN" dirty="0"/>
              <a:t>.</a:t>
            </a:r>
          </a:p>
          <a:p>
            <a:pPr lvl="0"/>
            <a:r>
              <a:rPr lang="en-IN" dirty="0"/>
              <a:t> </a:t>
            </a:r>
          </a:p>
          <a:p>
            <a:pPr lvl="0"/>
            <a:r>
              <a:rPr lang="en-IN" dirty="0"/>
              <a:t>* Allows institutions to manage alumni records and share </a:t>
            </a:r>
            <a:r>
              <a:rPr lang="en-IN" b="1" dirty="0"/>
              <a:t>events, opportunities, workshops, and announcements</a:t>
            </a:r>
            <a:r>
              <a:rPr lang="en-IN" dirty="0"/>
              <a:t>.</a:t>
            </a:r>
          </a:p>
          <a:p>
            <a:pPr lvl="0"/>
            <a:r>
              <a:rPr lang="en-IN" dirty="0"/>
              <a:t> </a:t>
            </a:r>
          </a:p>
          <a:p>
            <a:pPr lvl="0"/>
            <a:r>
              <a:rPr lang="en-IN" dirty="0"/>
              <a:t>* Creates a collaborative environment for </a:t>
            </a:r>
            <a:r>
              <a:rPr lang="en-IN" b="1" dirty="0"/>
              <a:t>knowledge and experience sharing</a:t>
            </a:r>
            <a:r>
              <a:rPr lang="en-IN"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958FEBAB-3074-476C-61DB-6231E5F2CE84}"/>
              </a:ext>
            </a:extLst>
          </p:cNvPr>
          <p:cNvSpPr txBox="1"/>
          <p:nvPr/>
        </p:nvSpPr>
        <p:spPr>
          <a:xfrm>
            <a:off x="963561" y="1091381"/>
            <a:ext cx="10972800" cy="3544139"/>
          </a:xfrm>
          <a:prstGeom prst="rect">
            <a:avLst/>
          </a:prstGeom>
          <a:noFill/>
        </p:spPr>
        <p:txBody>
          <a:bodyPr wrap="square" rtlCol="0">
            <a:spAutoFit/>
          </a:bodyPr>
          <a:lstStyle/>
          <a:p>
            <a:pPr lvl="0"/>
            <a:r>
              <a:rPr lang="en-IN" dirty="0"/>
              <a:t>Existing alumni systems mainly manage </a:t>
            </a:r>
            <a:r>
              <a:rPr lang="en-IN" b="1" dirty="0"/>
              <a:t>alumni records and communication</a:t>
            </a:r>
            <a:r>
              <a:rPr lang="en-IN" dirty="0"/>
              <a:t>. </a:t>
            </a:r>
          </a:p>
          <a:p>
            <a:pPr lvl="0"/>
            <a:r>
              <a:rPr lang="en-IN" dirty="0"/>
              <a:t>Traditional methods use </a:t>
            </a:r>
            <a:r>
              <a:rPr lang="en-IN" b="1" dirty="0"/>
              <a:t>spreadsheets, databases, emails, and social media</a:t>
            </a:r>
            <a:r>
              <a:rPr lang="en-IN" dirty="0"/>
              <a:t>. </a:t>
            </a:r>
          </a:p>
          <a:p>
            <a:pPr lvl="0"/>
            <a:r>
              <a:rPr lang="en-IN" dirty="0"/>
              <a:t>Efficient </a:t>
            </a:r>
            <a:r>
              <a:rPr lang="en-IN" b="1" dirty="0"/>
              <a:t>DSA techniques</a:t>
            </a:r>
            <a:r>
              <a:rPr lang="en-IN" dirty="0"/>
              <a:t> can improve data organization and searching. </a:t>
            </a:r>
          </a:p>
          <a:p>
            <a:pPr lvl="0"/>
            <a:r>
              <a:rPr lang="en-IN" b="1" dirty="0"/>
              <a:t>Alumni Connect</a:t>
            </a:r>
            <a:r>
              <a:rPr lang="en-IN" dirty="0"/>
              <a:t> uses: </a:t>
            </a:r>
          </a:p>
          <a:p>
            <a:pPr lvl="1"/>
            <a:r>
              <a:rPr lang="en-IN" dirty="0"/>
              <a:t>Arrays &amp; Linked Lists </a:t>
            </a:r>
          </a:p>
          <a:p>
            <a:pPr lvl="1"/>
            <a:r>
              <a:rPr lang="en-IN" dirty="0"/>
              <a:t>Hashing </a:t>
            </a:r>
          </a:p>
          <a:p>
            <a:pPr lvl="1"/>
            <a:r>
              <a:rPr lang="en-IN" dirty="0"/>
              <a:t>Searching &amp; Sorting </a:t>
            </a:r>
          </a:p>
          <a:p>
            <a:pPr lvl="1"/>
            <a:r>
              <a:rPr lang="en-IN" dirty="0"/>
              <a:t>String Matching </a:t>
            </a:r>
          </a:p>
          <a:p>
            <a:pPr lvl="1"/>
            <a:r>
              <a:rPr lang="en-IN" dirty="0"/>
              <a:t>Graphs </a:t>
            </a:r>
          </a:p>
          <a:p>
            <a:pPr lvl="1"/>
            <a:r>
              <a:rPr lang="en-IN" dirty="0"/>
              <a:t>Dynamic Programming </a:t>
            </a:r>
          </a:p>
          <a:p>
            <a:pPr lvl="0"/>
            <a:r>
              <a:rPr lang="en-IN" dirty="0"/>
              <a:t>These techniques help students </a:t>
            </a:r>
            <a:r>
              <a:rPr lang="en-IN" b="1" dirty="0"/>
              <a:t>find suitable alumni for mentorship and networking</a:t>
            </a:r>
            <a:r>
              <a:rPr lang="en-IN" dirty="0"/>
              <a:t>.</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B0E95912-F3C7-1635-EF06-8A1CC47A6700}"/>
              </a:ext>
            </a:extLst>
          </p:cNvPr>
          <p:cNvSpPr txBox="1"/>
          <p:nvPr/>
        </p:nvSpPr>
        <p:spPr>
          <a:xfrm>
            <a:off x="521111" y="1022555"/>
            <a:ext cx="11267766" cy="4801314"/>
          </a:xfrm>
          <a:prstGeom prst="rect">
            <a:avLst/>
          </a:prstGeom>
          <a:noFill/>
        </p:spPr>
        <p:txBody>
          <a:bodyPr wrap="square" rtlCol="0">
            <a:spAutoFit/>
          </a:bodyPr>
          <a:lstStyle/>
          <a:p>
            <a:r>
              <a:rPr lang="en-IN" b="1" dirty="0"/>
              <a:t>Problem Statement</a:t>
            </a:r>
          </a:p>
          <a:p>
            <a:r>
              <a:rPr lang="en-IN" dirty="0"/>
              <a:t>Traditional alumni management methods use scattered databases, spreadsheets, outdated records, and social media groups. These methods make it difficult to maintain accurate alumni information and allow students to quickly identify suitable alumni for mentorship, career guidance, internships, placements, and professional networking.</a:t>
            </a:r>
          </a:p>
          <a:p>
            <a:r>
              <a:rPr lang="en-IN" dirty="0"/>
              <a:t>Therefore, there is a need for a centralized system that can efficiently manage alumni information and provide fast searching, matching, and communication using Data Structures and Algorithms.</a:t>
            </a:r>
          </a:p>
          <a:p>
            <a:r>
              <a:rPr lang="en-IN" b="1" dirty="0"/>
              <a:t>Objectives</a:t>
            </a:r>
          </a:p>
          <a:p>
            <a:pPr lvl="0"/>
            <a:r>
              <a:rPr lang="en-IN" dirty="0"/>
              <a:t>To maintain alumni information in an organized manner. </a:t>
            </a:r>
          </a:p>
          <a:p>
            <a:pPr lvl="0"/>
            <a:r>
              <a:rPr lang="en-IN" dirty="0"/>
              <a:t>To provide authenticated student and alumni profiles. </a:t>
            </a:r>
          </a:p>
          <a:p>
            <a:pPr lvl="0"/>
            <a:r>
              <a:rPr lang="en-IN" dirty="0"/>
              <a:t>To enable fast searching of alumni. </a:t>
            </a:r>
          </a:p>
          <a:p>
            <a:pPr lvl="0"/>
            <a:r>
              <a:rPr lang="en-IN" dirty="0"/>
              <a:t>To search alumni based on skills, interests, industry, and expertise. </a:t>
            </a:r>
          </a:p>
          <a:p>
            <a:pPr lvl="0"/>
            <a:r>
              <a:rPr lang="en-IN" dirty="0"/>
              <a:t>To provide a structured mentorship request system. </a:t>
            </a:r>
          </a:p>
          <a:p>
            <a:pPr lvl="0"/>
            <a:r>
              <a:rPr lang="en-IN" dirty="0"/>
              <a:t>To facilitate career guidance and professional networking. </a:t>
            </a:r>
          </a:p>
          <a:p>
            <a:pPr lvl="0"/>
            <a:r>
              <a:rPr lang="en-IN" dirty="0"/>
              <a:t>To share job and internship opportunities. </a:t>
            </a:r>
          </a:p>
          <a:p>
            <a:pPr lvl="0"/>
            <a:r>
              <a:rPr lang="en-IN" dirty="0"/>
              <a:t>To allow institutions to manage and verify alumni records. </a:t>
            </a:r>
          </a:p>
          <a:p>
            <a:pPr lvl="0"/>
            <a:r>
              <a:rPr lang="en-IN" dirty="0"/>
              <a:t>To apply DSA concepts to solve a real-world networking problem.</a:t>
            </a:r>
          </a:p>
          <a:p>
            <a:endParaRPr lang="en-IN"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6" name="Picture 5">
            <a:extLst>
              <a:ext uri="{FF2B5EF4-FFF2-40B4-BE49-F238E27FC236}">
                <a16:creationId xmlns:a16="http://schemas.microsoft.com/office/drawing/2014/main" id="{9419AE7E-1BF7-467A-A5DD-BAD1EFE9D11B}"/>
              </a:ext>
            </a:extLst>
          </p:cNvPr>
          <p:cNvPicPr>
            <a:picLocks noChangeAspect="1"/>
          </p:cNvPicPr>
          <p:nvPr/>
        </p:nvPicPr>
        <p:blipFill>
          <a:blip r:embed="rId2"/>
          <a:stretch>
            <a:fillRect/>
          </a:stretch>
        </p:blipFill>
        <p:spPr>
          <a:xfrm>
            <a:off x="1999641" y="738909"/>
            <a:ext cx="8192717" cy="60630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B43CA122-DE3B-DE5A-AF4A-9C5838CC733E}"/>
              </a:ext>
            </a:extLst>
          </p:cNvPr>
          <p:cNvSpPr txBox="1"/>
          <p:nvPr/>
        </p:nvSpPr>
        <p:spPr>
          <a:xfrm>
            <a:off x="353961" y="993057"/>
            <a:ext cx="11493910" cy="3693319"/>
          </a:xfrm>
          <a:prstGeom prst="rect">
            <a:avLst/>
          </a:prstGeom>
          <a:noFill/>
        </p:spPr>
        <p:txBody>
          <a:bodyPr wrap="square" rtlCol="0">
            <a:spAutoFit/>
          </a:bodyPr>
          <a:lstStyle/>
          <a:p>
            <a:r>
              <a:rPr lang="en-IN" dirty="0"/>
              <a:t>The </a:t>
            </a:r>
            <a:r>
              <a:rPr lang="en-IN" b="1" dirty="0"/>
              <a:t>Alumni Connect</a:t>
            </a:r>
            <a:r>
              <a:rPr lang="en-IN" dirty="0"/>
              <a:t> system provides an organized and efficient platform for managing interactions between students, alumni, and educational institutions.</a:t>
            </a:r>
          </a:p>
          <a:p>
            <a:r>
              <a:rPr lang="en-IN" dirty="0"/>
              <a:t>The system enables users to create and manage profiles containing educational qualifications, skills, interests, professional experience, and career information.</a:t>
            </a:r>
          </a:p>
          <a:p>
            <a:r>
              <a:rPr lang="en-IN" dirty="0"/>
              <a:t>The alumni discovery feature allows students to search for suitable alumni using different parameters such as skills, industry, interests, and professional expertise.</a:t>
            </a:r>
          </a:p>
          <a:p>
            <a:r>
              <a:rPr lang="en-IN" dirty="0"/>
              <a:t>The mentorship feature provides a structured method for students to send requests to relevant alumni and receive career guidance.</a:t>
            </a:r>
          </a:p>
          <a:p>
            <a:r>
              <a:rPr lang="en-IN" dirty="0"/>
              <a:t>The system also supports sharing of job opportunities, internships, events, workshops, and other announcements.</a:t>
            </a:r>
          </a:p>
          <a:p>
            <a:r>
              <a:rPr lang="en-IN" dirty="0"/>
              <a:t>By applying suitable Data Structures and Algorithms, the system improves the organization, searching, filtering, and retrieval of alumni information.</a:t>
            </a:r>
          </a:p>
          <a:p>
            <a:r>
              <a:rPr lang="en-IN" dirty="0"/>
              <a:t>Overall, the proposed system provides a centralized, user-friendly, and efficient solution for student–alumni networking.</a:t>
            </a:r>
          </a:p>
          <a:p>
            <a:endParaRPr lang="en-IN" dirty="0"/>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D3F08964-1823-4761-B667-FF06364C9A4B}"/>
              </a:ext>
            </a:extLst>
          </p:cNvPr>
          <p:cNvSpPr txBox="1"/>
          <p:nvPr/>
        </p:nvSpPr>
        <p:spPr>
          <a:xfrm>
            <a:off x="393290" y="1150374"/>
            <a:ext cx="11031793" cy="4524315"/>
          </a:xfrm>
          <a:prstGeom prst="rect">
            <a:avLst/>
          </a:prstGeom>
          <a:noFill/>
        </p:spPr>
        <p:txBody>
          <a:bodyPr wrap="square" rtlCol="0">
            <a:spAutoFit/>
          </a:bodyPr>
          <a:lstStyle/>
          <a:p>
            <a:r>
              <a:rPr lang="en-IN" b="1" dirty="0"/>
              <a:t>Hardware Requirements</a:t>
            </a:r>
          </a:p>
          <a:p>
            <a:pPr lvl="0"/>
            <a:r>
              <a:rPr lang="en-IN" dirty="0"/>
              <a:t>Processor: Intel Core i3 or above </a:t>
            </a:r>
          </a:p>
          <a:p>
            <a:pPr lvl="0"/>
            <a:r>
              <a:rPr lang="en-IN" dirty="0"/>
              <a:t>RAM: Minimum 4 GB </a:t>
            </a:r>
          </a:p>
          <a:p>
            <a:pPr lvl="0"/>
            <a:r>
              <a:rPr lang="en-IN" dirty="0"/>
              <a:t>Storage: Minimum 10 GB free space </a:t>
            </a:r>
          </a:p>
          <a:p>
            <a:pPr lvl="0"/>
            <a:r>
              <a:rPr lang="en-IN" dirty="0"/>
              <a:t>Keyboard and Mouse </a:t>
            </a:r>
          </a:p>
          <a:p>
            <a:pPr lvl="0"/>
            <a:r>
              <a:rPr lang="en-IN" dirty="0"/>
              <a:t>Monitor / Laptop </a:t>
            </a:r>
          </a:p>
          <a:p>
            <a:pPr lvl="0"/>
            <a:r>
              <a:rPr lang="en-IN" dirty="0"/>
              <a:t>Internet Connection </a:t>
            </a:r>
          </a:p>
          <a:p>
            <a:r>
              <a:rPr lang="en-IN" b="1" dirty="0"/>
              <a:t>Software Requirements</a:t>
            </a:r>
          </a:p>
          <a:p>
            <a:pPr lvl="0"/>
            <a:r>
              <a:rPr lang="en-IN" b="1" dirty="0"/>
              <a:t>Operating System:</a:t>
            </a:r>
            <a:r>
              <a:rPr lang="en-IN" dirty="0"/>
              <a:t> Windows 10/11, Linux, or macOS </a:t>
            </a:r>
          </a:p>
          <a:p>
            <a:pPr lvl="0"/>
            <a:r>
              <a:rPr lang="en-IN" b="1" dirty="0"/>
              <a:t>Programming Language:</a:t>
            </a:r>
            <a:r>
              <a:rPr lang="en-IN" dirty="0"/>
              <a:t> Java </a:t>
            </a:r>
          </a:p>
          <a:p>
            <a:pPr lvl="0"/>
            <a:r>
              <a:rPr lang="en-IN" b="1" dirty="0"/>
              <a:t>Frontend:</a:t>
            </a:r>
            <a:r>
              <a:rPr lang="en-IN" dirty="0"/>
              <a:t> HTML, CSS, JavaScript </a:t>
            </a:r>
          </a:p>
          <a:p>
            <a:pPr lvl="0"/>
            <a:r>
              <a:rPr lang="en-IN" b="1" dirty="0"/>
              <a:t>IDE:</a:t>
            </a:r>
            <a:r>
              <a:rPr lang="en-IN" dirty="0"/>
              <a:t> Visual Studio Code </a:t>
            </a:r>
          </a:p>
          <a:p>
            <a:pPr lvl="0"/>
            <a:r>
              <a:rPr lang="en-IN" b="1" dirty="0"/>
              <a:t>JDK:</a:t>
            </a:r>
            <a:r>
              <a:rPr lang="en-IN" dirty="0"/>
              <a:t> JDK 8 or above </a:t>
            </a:r>
          </a:p>
          <a:p>
            <a:pPr lvl="0"/>
            <a:r>
              <a:rPr lang="en-IN" b="1" dirty="0"/>
              <a:t>Database:</a:t>
            </a:r>
            <a:r>
              <a:rPr lang="en-IN" dirty="0"/>
              <a:t> MySQL / suitable database </a:t>
            </a:r>
          </a:p>
          <a:p>
            <a:pPr lvl="0"/>
            <a:r>
              <a:rPr lang="en-IN" b="1" dirty="0"/>
              <a:t>Version Control:</a:t>
            </a:r>
            <a:r>
              <a:rPr lang="en-IN" dirty="0"/>
              <a:t> Git / GitHub</a:t>
            </a:r>
          </a:p>
          <a:p>
            <a:endParaRPr lang="en-IN" dirty="0"/>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2CC4C99B-42E2-B4EE-B98C-06C57DC2F847}"/>
              </a:ext>
            </a:extLst>
          </p:cNvPr>
          <p:cNvSpPr txBox="1"/>
          <p:nvPr/>
        </p:nvSpPr>
        <p:spPr>
          <a:xfrm>
            <a:off x="550606" y="1022555"/>
            <a:ext cx="10923639" cy="2862322"/>
          </a:xfrm>
          <a:prstGeom prst="rect">
            <a:avLst/>
          </a:prstGeom>
          <a:noFill/>
        </p:spPr>
        <p:txBody>
          <a:bodyPr wrap="square" rtlCol="0">
            <a:spAutoFit/>
          </a:bodyPr>
          <a:lstStyle/>
          <a:p>
            <a:r>
              <a:rPr lang="en-IN" dirty="0"/>
              <a:t>The </a:t>
            </a:r>
            <a:r>
              <a:rPr lang="en-IN" b="1" dirty="0"/>
              <a:t>Alumni Connect</a:t>
            </a:r>
            <a:r>
              <a:rPr lang="en-IN" dirty="0"/>
              <a:t> project demonstrates how Data Structures and Algorithms can be applied to solve a real-world problem involving alumni management and professional networking.</a:t>
            </a:r>
          </a:p>
          <a:p>
            <a:r>
              <a:rPr lang="en-IN" dirty="0"/>
              <a:t>Instead of maintaining alumni information through scattered databases, spreadsheets, or social media groups, the proposed system provides a centralized platform for managing student and alumni profiles.</a:t>
            </a:r>
          </a:p>
          <a:p>
            <a:r>
              <a:rPr lang="en-IN" dirty="0"/>
              <a:t>Features such as efficient searching, sorting, profile matching, mentorship requests, and networking make it easier for students to connect with relevant alumni.</a:t>
            </a:r>
          </a:p>
          <a:p>
            <a:r>
              <a:rPr lang="en-IN" dirty="0"/>
              <a:t>The use of DSA concepts improves data organization, searching efficiency, and information retrieval.</a:t>
            </a:r>
          </a:p>
          <a:p>
            <a:r>
              <a:rPr lang="en-IN" dirty="0"/>
              <a:t>Overall, Alumni Connect provides a structured, reliable, and user-friendly platform that strengthens communication between students, alumni, and educational institutions.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997B616D-DFD7-DCB0-FCEC-FBFA6353EA94}"/>
              </a:ext>
            </a:extLst>
          </p:cNvPr>
          <p:cNvSpPr txBox="1"/>
          <p:nvPr/>
        </p:nvSpPr>
        <p:spPr>
          <a:xfrm>
            <a:off x="530942" y="1120876"/>
            <a:ext cx="11149781" cy="3970318"/>
          </a:xfrm>
          <a:prstGeom prst="rect">
            <a:avLst/>
          </a:prstGeom>
          <a:noFill/>
        </p:spPr>
        <p:txBody>
          <a:bodyPr wrap="square" rtlCol="0">
            <a:spAutoFit/>
          </a:bodyPr>
          <a:lstStyle/>
          <a:p>
            <a:pPr lvl="0"/>
            <a:r>
              <a:rPr lang="en-IN" dirty="0"/>
              <a:t>Develop a complete mobile application for Android and iOS. </a:t>
            </a:r>
          </a:p>
          <a:p>
            <a:pPr lvl="0"/>
            <a:r>
              <a:rPr lang="en-IN" dirty="0"/>
              <a:t>Add AI-based alumni and mentor recommendations. </a:t>
            </a:r>
          </a:p>
          <a:p>
            <a:pPr lvl="0"/>
            <a:r>
              <a:rPr lang="en-IN" dirty="0"/>
              <a:t>Implement advanced skill-based matching. </a:t>
            </a:r>
          </a:p>
          <a:p>
            <a:pPr lvl="0"/>
            <a:r>
              <a:rPr lang="en-IN" dirty="0"/>
              <a:t>Add real-time chat between students and alumni. </a:t>
            </a:r>
          </a:p>
          <a:p>
            <a:pPr lvl="0"/>
            <a:r>
              <a:rPr lang="en-IN" dirty="0"/>
              <a:t>Integrate video meeting facilities for mentorship. </a:t>
            </a:r>
          </a:p>
          <a:p>
            <a:pPr lvl="0"/>
            <a:r>
              <a:rPr lang="en-IN" dirty="0"/>
              <a:t>Add email and push notifications. </a:t>
            </a:r>
          </a:p>
          <a:p>
            <a:pPr lvl="0"/>
            <a:r>
              <a:rPr lang="en-IN" dirty="0"/>
              <a:t>Provide advanced alumni analytics and dashboards. </a:t>
            </a:r>
          </a:p>
          <a:p>
            <a:pPr lvl="0"/>
            <a:r>
              <a:rPr lang="en-IN" dirty="0"/>
              <a:t>Integrate LinkedIn or other professional profiles. </a:t>
            </a:r>
          </a:p>
          <a:p>
            <a:pPr lvl="0"/>
            <a:r>
              <a:rPr lang="en-IN" dirty="0"/>
              <a:t>Add recommendation systems for jobs and internships. </a:t>
            </a:r>
          </a:p>
          <a:p>
            <a:pPr lvl="0"/>
            <a:r>
              <a:rPr lang="en-IN" dirty="0"/>
              <a:t>Implement cloud-based storage for scalability. </a:t>
            </a:r>
          </a:p>
          <a:p>
            <a:pPr lvl="0"/>
            <a:r>
              <a:rPr lang="en-IN" dirty="0"/>
              <a:t>Add an AI chatbot for career guidance. </a:t>
            </a:r>
          </a:p>
          <a:p>
            <a:pPr lvl="0"/>
            <a:r>
              <a:rPr lang="en-IN" dirty="0"/>
              <a:t>Improve matching algorithms using student career preferences. </a:t>
            </a:r>
          </a:p>
          <a:p>
            <a:pPr lvl="0"/>
            <a:r>
              <a:rPr lang="en-IN" dirty="0"/>
              <a:t>Add alumni donation and fundraising management. </a:t>
            </a:r>
          </a:p>
          <a:p>
            <a:pPr lvl="0"/>
            <a:r>
              <a:rPr lang="en-IN" dirty="0"/>
              <a:t>Support large-scale networking across multiple institutions.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1187</TotalTime>
  <Words>1221</Words>
  <Application>Microsoft Office PowerPoint</Application>
  <PresentationFormat>Widescreen</PresentationFormat>
  <Paragraphs>108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Alumni Connect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Arun Tej</cp:lastModifiedBy>
  <cp:revision>22</cp:revision>
  <dcterms:created xsi:type="dcterms:W3CDTF">2024-08-29T05:25:00Z</dcterms:created>
  <dcterms:modified xsi:type="dcterms:W3CDTF">2026-08-31T13:17:10Z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